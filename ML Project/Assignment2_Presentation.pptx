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Lovelo" panose="020B0604020202020204" charset="0"/>
      <p:regular r:id="rId23"/>
    </p:embeddedFont>
    <p:embeddedFont>
      <p:font typeface="Times New Roman MT" panose="020B0604020202020204" charset="0"/>
      <p:regular r:id="rId24"/>
    </p:embeddedFont>
    <p:embeddedFont>
      <p:font typeface="Times New Roman MT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20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aggle.com/datasets/vinothkannaece/sales-dataset" TargetMode="Externa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4541622" y="6540622"/>
            <a:ext cx="4111266" cy="3381490"/>
          </a:xfrm>
          <a:custGeom>
            <a:avLst/>
            <a:gdLst/>
            <a:ahLst/>
            <a:cxnLst/>
            <a:rect l="l" t="t" r="r" b="b"/>
            <a:pathLst>
              <a:path w="7629294" h="3381490">
                <a:moveTo>
                  <a:pt x="0" y="0"/>
                </a:moveTo>
                <a:lnTo>
                  <a:pt x="7629294" y="0"/>
                </a:lnTo>
                <a:lnTo>
                  <a:pt x="7629294" y="3381490"/>
                </a:lnTo>
                <a:lnTo>
                  <a:pt x="0" y="3381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31512" r="-8557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118173" y="3030231"/>
            <a:ext cx="14051653" cy="4226538"/>
            <a:chOff x="0" y="0"/>
            <a:chExt cx="2713603" cy="8162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13603" cy="816213"/>
            </a:xfrm>
            <a:custGeom>
              <a:avLst/>
              <a:gdLst/>
              <a:ahLst/>
              <a:cxnLst/>
              <a:rect l="l" t="t" r="r" b="b"/>
              <a:pathLst>
                <a:path w="2713603" h="816213">
                  <a:moveTo>
                    <a:pt x="0" y="0"/>
                  </a:moveTo>
                  <a:lnTo>
                    <a:pt x="2713603" y="0"/>
                  </a:lnTo>
                  <a:lnTo>
                    <a:pt x="2713603" y="816213"/>
                  </a:lnTo>
                  <a:lnTo>
                    <a:pt x="0" y="816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713603" cy="835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18173" y="4419868"/>
            <a:ext cx="14051653" cy="1116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3"/>
              </a:lnSpc>
            </a:pPr>
            <a:r>
              <a:rPr lang="en-US" sz="8313" spc="191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SALES DATA 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58597" y="5516857"/>
            <a:ext cx="9570807" cy="47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sz="2747" spc="145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DESCRIPTIVE, DIAGNOSTIC &amp; PREDICTIVE ANALYTICS</a:t>
            </a:r>
          </a:p>
        </p:txBody>
      </p:sp>
      <p:sp>
        <p:nvSpPr>
          <p:cNvPr id="4" name="Freeform 4"/>
          <p:cNvSpPr/>
          <p:nvPr/>
        </p:nvSpPr>
        <p:spPr>
          <a:xfrm>
            <a:off x="-19050" y="0"/>
            <a:ext cx="5530060" cy="4088710"/>
          </a:xfrm>
          <a:custGeom>
            <a:avLst/>
            <a:gdLst/>
            <a:ahLst/>
            <a:cxnLst/>
            <a:rect l="l" t="t" r="r" b="b"/>
            <a:pathLst>
              <a:path w="5530060" h="9258300">
                <a:moveTo>
                  <a:pt x="0" y="0"/>
                </a:moveTo>
                <a:lnTo>
                  <a:pt x="5530060" y="0"/>
                </a:lnTo>
                <a:lnTo>
                  <a:pt x="553006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3156" t="-126436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10799999">
            <a:off x="59806" y="39871"/>
            <a:ext cx="5707460" cy="3666858"/>
          </a:xfrm>
          <a:custGeom>
            <a:avLst/>
            <a:gdLst/>
            <a:ahLst/>
            <a:cxnLst/>
            <a:rect l="l" t="t" r="r" b="b"/>
            <a:pathLst>
              <a:path w="5707460" h="3666858">
                <a:moveTo>
                  <a:pt x="0" y="0"/>
                </a:moveTo>
                <a:lnTo>
                  <a:pt x="5707461" y="0"/>
                </a:lnTo>
                <a:lnTo>
                  <a:pt x="5707461" y="3666858"/>
                </a:lnTo>
                <a:lnTo>
                  <a:pt x="0" y="36668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7277" b="-1983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07295" y="2821369"/>
            <a:ext cx="8543522" cy="6436931"/>
            <a:chOff x="0" y="0"/>
            <a:chExt cx="2250146" cy="1695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50146" cy="1695323"/>
            </a:xfrm>
            <a:custGeom>
              <a:avLst/>
              <a:gdLst/>
              <a:ahLst/>
              <a:cxnLst/>
              <a:rect l="l" t="t" r="r" b="b"/>
              <a:pathLst>
                <a:path w="2250146" h="1695323">
                  <a:moveTo>
                    <a:pt x="46215" y="0"/>
                  </a:moveTo>
                  <a:lnTo>
                    <a:pt x="2203931" y="0"/>
                  </a:lnTo>
                  <a:cubicBezTo>
                    <a:pt x="2229455" y="0"/>
                    <a:pt x="2250146" y="20691"/>
                    <a:pt x="2250146" y="46215"/>
                  </a:cubicBezTo>
                  <a:lnTo>
                    <a:pt x="2250146" y="1649108"/>
                  </a:lnTo>
                  <a:cubicBezTo>
                    <a:pt x="2250146" y="1674632"/>
                    <a:pt x="2229455" y="1695323"/>
                    <a:pt x="2203931" y="1695323"/>
                  </a:cubicBezTo>
                  <a:lnTo>
                    <a:pt x="46215" y="1695323"/>
                  </a:lnTo>
                  <a:cubicBezTo>
                    <a:pt x="20691" y="1695323"/>
                    <a:pt x="0" y="1674632"/>
                    <a:pt x="0" y="1649108"/>
                  </a:cubicBezTo>
                  <a:lnTo>
                    <a:pt x="0" y="46215"/>
                  </a:lnTo>
                  <a:cubicBezTo>
                    <a:pt x="0" y="20691"/>
                    <a:pt x="20691" y="0"/>
                    <a:pt x="4621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50146" cy="1733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54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5546" y="433252"/>
            <a:ext cx="16476909" cy="167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9"/>
              </a:lnSpc>
            </a:pPr>
            <a:r>
              <a:rPr lang="en-US" sz="4847" spc="256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Course Title:  </a:t>
            </a:r>
          </a:p>
          <a:p>
            <a:pPr algn="ctr">
              <a:lnSpc>
                <a:spcPts val="6689"/>
              </a:lnSpc>
              <a:spcBef>
                <a:spcPct val="0"/>
              </a:spcBef>
            </a:pPr>
            <a:r>
              <a:rPr lang="en-US" sz="4847" spc="256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Course Code: </a:t>
            </a:r>
          </a:p>
        </p:txBody>
      </p:sp>
      <p:sp>
        <p:nvSpPr>
          <p:cNvPr id="8" name="Freeform 8"/>
          <p:cNvSpPr/>
          <p:nvPr/>
        </p:nvSpPr>
        <p:spPr>
          <a:xfrm>
            <a:off x="12580540" y="6620142"/>
            <a:ext cx="5707460" cy="3666858"/>
          </a:xfrm>
          <a:custGeom>
            <a:avLst/>
            <a:gdLst/>
            <a:ahLst/>
            <a:cxnLst/>
            <a:rect l="l" t="t" r="r" b="b"/>
            <a:pathLst>
              <a:path w="5707460" h="3666858">
                <a:moveTo>
                  <a:pt x="0" y="0"/>
                </a:moveTo>
                <a:lnTo>
                  <a:pt x="5707460" y="0"/>
                </a:lnTo>
                <a:lnTo>
                  <a:pt x="5707460" y="3666858"/>
                </a:lnTo>
                <a:lnTo>
                  <a:pt x="0" y="36668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7277" b="-198321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264590" y="2821369"/>
            <a:ext cx="8543522" cy="6436931"/>
            <a:chOff x="0" y="0"/>
            <a:chExt cx="2250146" cy="16953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50146" cy="1695323"/>
            </a:xfrm>
            <a:custGeom>
              <a:avLst/>
              <a:gdLst/>
              <a:ahLst/>
              <a:cxnLst/>
              <a:rect l="l" t="t" r="r" b="b"/>
              <a:pathLst>
                <a:path w="2250146" h="1695323">
                  <a:moveTo>
                    <a:pt x="46215" y="0"/>
                  </a:moveTo>
                  <a:lnTo>
                    <a:pt x="2203931" y="0"/>
                  </a:lnTo>
                  <a:cubicBezTo>
                    <a:pt x="2229455" y="0"/>
                    <a:pt x="2250146" y="20691"/>
                    <a:pt x="2250146" y="46215"/>
                  </a:cubicBezTo>
                  <a:lnTo>
                    <a:pt x="2250146" y="1649108"/>
                  </a:lnTo>
                  <a:cubicBezTo>
                    <a:pt x="2250146" y="1674632"/>
                    <a:pt x="2229455" y="1695323"/>
                    <a:pt x="2203931" y="1695323"/>
                  </a:cubicBezTo>
                  <a:lnTo>
                    <a:pt x="46215" y="1695323"/>
                  </a:lnTo>
                  <a:cubicBezTo>
                    <a:pt x="20691" y="1695323"/>
                    <a:pt x="0" y="1674632"/>
                    <a:pt x="0" y="1649108"/>
                  </a:cubicBezTo>
                  <a:lnTo>
                    <a:pt x="0" y="46215"/>
                  </a:lnTo>
                  <a:cubicBezTo>
                    <a:pt x="0" y="20691"/>
                    <a:pt x="20691" y="0"/>
                    <a:pt x="4621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50146" cy="1733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54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928172" y="4731945"/>
            <a:ext cx="7216358" cy="266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Designation: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Department: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Faculty: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--------------------- University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0877" y="4731945"/>
            <a:ext cx="7216358" cy="3188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ID No: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Batch &amp; Section: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Department: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Faculty:</a:t>
            </a:r>
            <a:r>
              <a:rPr lang="en-US" sz="3000" spc="1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sz="3000" b="1" spc="1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---------------- University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2347" y="3456281"/>
            <a:ext cx="3293418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  <a:spcBef>
                <a:spcPct val="0"/>
              </a:spcBef>
            </a:pPr>
            <a:r>
              <a:rPr lang="en-US" sz="3500" b="1" spc="18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SUBMITTED BY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62109" y="3456281"/>
            <a:ext cx="3348484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  <a:spcBef>
                <a:spcPct val="0"/>
              </a:spcBef>
            </a:pPr>
            <a:r>
              <a:rPr lang="en-US" sz="3500" b="1" spc="18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SUBMITTED TO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15585" y="942975"/>
            <a:ext cx="6256830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DATASET OVERVIEW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14554200" y="0"/>
            <a:ext cx="3719458" cy="2832609"/>
          </a:xfrm>
          <a:custGeom>
            <a:avLst/>
            <a:gdLst/>
            <a:ahLst/>
            <a:cxnLst/>
            <a:rect l="l" t="t" r="r" b="b"/>
            <a:pathLst>
              <a:path w="3719458" h="2832609">
                <a:moveTo>
                  <a:pt x="0" y="0"/>
                </a:moveTo>
                <a:lnTo>
                  <a:pt x="3719458" y="0"/>
                </a:lnTo>
                <a:lnTo>
                  <a:pt x="3719458" y="2832609"/>
                </a:lnTo>
                <a:lnTo>
                  <a:pt x="0" y="2832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75911" r="-10477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3628" y="5067300"/>
            <a:ext cx="1889728" cy="5196627"/>
          </a:xfrm>
          <a:custGeom>
            <a:avLst/>
            <a:gdLst/>
            <a:ahLst/>
            <a:cxnLst/>
            <a:rect l="l" t="t" r="r" b="b"/>
            <a:pathLst>
              <a:path w="1889728" h="5196627">
                <a:moveTo>
                  <a:pt x="0" y="0"/>
                </a:moveTo>
                <a:lnTo>
                  <a:pt x="1889728" y="0"/>
                </a:lnTo>
                <a:lnTo>
                  <a:pt x="1889728" y="5196627"/>
                </a:lnTo>
                <a:lnTo>
                  <a:pt x="0" y="51966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88787" r="-14263" b="-5039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53821" y="2417193"/>
            <a:ext cx="11180358" cy="605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1" spc="-11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Source:</a:t>
            </a:r>
            <a:r>
              <a:rPr lang="en-US" sz="2999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Retail &amp; Online Sales Transactions</a:t>
            </a:r>
          </a:p>
          <a:p>
            <a:pPr algn="just">
              <a:lnSpc>
                <a:spcPts val="4499"/>
              </a:lnSpc>
            </a:pPr>
            <a:r>
              <a:rPr lang="en-US" sz="2999" b="1" spc="-11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Reference:</a:t>
            </a:r>
            <a:r>
              <a:rPr lang="en-US" sz="2999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sales_data.csv</a:t>
            </a:r>
          </a:p>
          <a:p>
            <a:pPr algn="just">
              <a:lnSpc>
                <a:spcPts val="4499"/>
              </a:lnSpc>
            </a:pPr>
            <a:r>
              <a:rPr lang="en-US" sz="2999" b="1" spc="-11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Link:</a:t>
            </a:r>
            <a:r>
              <a:rPr lang="en-US" sz="2999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999" u="sng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5" tooltip="https://www.kaggle.com/datasets/vinothkannaece/sales-dataset"/>
              </a:rPr>
              <a:t>https://www.kaggle.com/datasets/vinothkannaece/sales-dataset</a:t>
            </a:r>
          </a:p>
          <a:p>
            <a:pPr algn="just">
              <a:lnSpc>
                <a:spcPts val="3899"/>
              </a:lnSpc>
            </a:pPr>
            <a:endParaRPr lang="en-US" sz="2999" u="sng" spc="-11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  <a:hlinkClick r:id="rId5" tooltip="https://www.kaggle.com/datasets/vinothkannaece/sales-dataset"/>
            </a:endParaRPr>
          </a:p>
          <a:p>
            <a:pPr algn="just">
              <a:lnSpc>
                <a:spcPts val="3899"/>
              </a:lnSpc>
            </a:pPr>
            <a:r>
              <a:rPr lang="en-US" sz="2999" b="1" spc="-11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Characteristics:</a:t>
            </a:r>
          </a:p>
          <a:p>
            <a:pPr algn="just">
              <a:lnSpc>
                <a:spcPts val="4499"/>
              </a:lnSpc>
            </a:pPr>
            <a:endParaRPr lang="en-US" sz="2999" b="1" spc="-11">
              <a:solidFill>
                <a:srgbClr val="231F2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Records: 1,000 transactions</a:t>
            </a: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Time Period: January 2023 - January 2024</a:t>
            </a: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Regions: North, South, East, West</a:t>
            </a: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Categories: Electronics, Furniture, Clothing, Food</a:t>
            </a: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 spc="-11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Channels: Online (47.8%) &amp; Retail (52.2%)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79722" y="55647"/>
            <a:ext cx="3786133" cy="2926100"/>
          </a:xfrm>
          <a:custGeom>
            <a:avLst/>
            <a:gdLst/>
            <a:ahLst/>
            <a:cxnLst/>
            <a:rect l="l" t="t" r="r" b="b"/>
            <a:pathLst>
              <a:path w="3786133" h="2926100">
                <a:moveTo>
                  <a:pt x="0" y="0"/>
                </a:moveTo>
                <a:lnTo>
                  <a:pt x="3786133" y="0"/>
                </a:lnTo>
                <a:lnTo>
                  <a:pt x="3786133" y="2926100"/>
                </a:lnTo>
                <a:lnTo>
                  <a:pt x="0" y="292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7096" r="-10116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019931" y="6019561"/>
            <a:ext cx="3247507" cy="5287370"/>
          </a:xfrm>
          <a:custGeom>
            <a:avLst/>
            <a:gdLst/>
            <a:ahLst/>
            <a:cxnLst/>
            <a:rect l="l" t="t" r="r" b="b"/>
            <a:pathLst>
              <a:path w="3247507" h="5287370">
                <a:moveTo>
                  <a:pt x="0" y="0"/>
                </a:moveTo>
                <a:lnTo>
                  <a:pt x="3247508" y="0"/>
                </a:lnTo>
                <a:lnTo>
                  <a:pt x="3247508" y="5287370"/>
                </a:lnTo>
                <a:lnTo>
                  <a:pt x="0" y="5287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34535" t="-478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907830" y="3455932"/>
            <a:ext cx="7351470" cy="3375137"/>
          </a:xfrm>
          <a:custGeom>
            <a:avLst/>
            <a:gdLst/>
            <a:ahLst/>
            <a:cxnLst/>
            <a:rect l="l" t="t" r="r" b="b"/>
            <a:pathLst>
              <a:path w="7351470" h="3375137">
                <a:moveTo>
                  <a:pt x="0" y="0"/>
                </a:moveTo>
                <a:lnTo>
                  <a:pt x="7351470" y="0"/>
                </a:lnTo>
                <a:lnTo>
                  <a:pt x="7351470" y="3375136"/>
                </a:lnTo>
                <a:lnTo>
                  <a:pt x="0" y="3375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030" t="-15344" r="-7039" b="-1534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98906" y="942975"/>
            <a:ext cx="8994237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DATA ACQUISITION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360682"/>
            <a:ext cx="8740405" cy="352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Acquisition Steps:</a:t>
            </a:r>
          </a:p>
          <a:p>
            <a:pPr marL="647700" lvl="1" indent="-323850" algn="just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CSV file import using Pandas</a:t>
            </a:r>
          </a:p>
          <a:p>
            <a:pPr marL="647700" lvl="1" indent="-323850" algn="just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validation (shape, types, completeness)</a:t>
            </a:r>
          </a:p>
          <a:p>
            <a:pPr marL="647700" lvl="1" indent="-323850" algn="just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Initial exploration (head, info, describe)</a:t>
            </a:r>
          </a:p>
          <a:p>
            <a:pPr marL="647700" lvl="1" indent="-323850" algn="just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Quality checks (missing values, duplicates)</a:t>
            </a:r>
          </a:p>
          <a:p>
            <a:pPr algn="just">
              <a:lnSpc>
                <a:spcPts val="3900"/>
              </a:lnSpc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Result:</a:t>
            </a: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Clean dataset ready for analysis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79722" y="0"/>
            <a:ext cx="3808278" cy="2934831"/>
          </a:xfrm>
          <a:custGeom>
            <a:avLst/>
            <a:gdLst/>
            <a:ahLst/>
            <a:cxnLst/>
            <a:rect l="l" t="t" r="r" b="b"/>
            <a:pathLst>
              <a:path w="3808278" h="2934831">
                <a:moveTo>
                  <a:pt x="0" y="0"/>
                </a:moveTo>
                <a:lnTo>
                  <a:pt x="3808278" y="0"/>
                </a:lnTo>
                <a:lnTo>
                  <a:pt x="3808278" y="2934831"/>
                </a:lnTo>
                <a:lnTo>
                  <a:pt x="0" y="2934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70454" r="-103119"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13628" y="6210300"/>
            <a:ext cx="3821906" cy="4076774"/>
          </a:xfrm>
          <a:custGeom>
            <a:avLst/>
            <a:gdLst/>
            <a:ahLst/>
            <a:cxnLst/>
            <a:rect l="l" t="t" r="r" b="b"/>
            <a:pathLst>
              <a:path w="3821906" h="4076774">
                <a:moveTo>
                  <a:pt x="0" y="0"/>
                </a:moveTo>
                <a:lnTo>
                  <a:pt x="3821906" y="0"/>
                </a:lnTo>
                <a:lnTo>
                  <a:pt x="3821906" y="4076774"/>
                </a:lnTo>
                <a:lnTo>
                  <a:pt x="0" y="4076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1707" r="-9928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818652" y="603885"/>
            <a:ext cx="6908183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DATA PREPROCESSING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80699" y="1611133"/>
            <a:ext cx="9126601" cy="748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Cleaning and Transformation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Cleaning Steps: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Missing Values: None found (100% complete)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Duplicates: Zero duplicates detected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Date Conversion: String → DateTime format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Types: Validated all columns</a:t>
            </a:r>
          </a:p>
          <a:p>
            <a:pPr algn="just">
              <a:lnSpc>
                <a:spcPts val="3900"/>
              </a:lnSpc>
              <a:spcBef>
                <a:spcPct val="0"/>
              </a:spcBef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Feature Engineering: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Temporal: Year, Month, Quarter, Week, Day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Financial: Profit, Profit_Margin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Encoded: Categorical → Numerical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Lagged: Sales_Lag_7, Lag_14, Lag_30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Rolling: 7-day and 30-day averages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Output: </a:t>
            </a: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Enhanced dataset with 25+ features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29185" y="37760"/>
            <a:ext cx="3872726" cy="2281043"/>
          </a:xfrm>
          <a:custGeom>
            <a:avLst/>
            <a:gdLst/>
            <a:ahLst/>
            <a:cxnLst/>
            <a:rect l="l" t="t" r="r" b="b"/>
            <a:pathLst>
              <a:path w="3872726" h="2281043">
                <a:moveTo>
                  <a:pt x="0" y="0"/>
                </a:moveTo>
                <a:lnTo>
                  <a:pt x="3872727" y="0"/>
                </a:lnTo>
                <a:lnTo>
                  <a:pt x="3872727" y="2281043"/>
                </a:lnTo>
                <a:lnTo>
                  <a:pt x="0" y="228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27464" r="-96671" b="-15163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33436" y="7283384"/>
            <a:ext cx="2943128" cy="3048099"/>
          </a:xfrm>
          <a:custGeom>
            <a:avLst/>
            <a:gdLst/>
            <a:ahLst/>
            <a:cxnLst/>
            <a:rect l="l" t="t" r="r" b="b"/>
            <a:pathLst>
              <a:path w="2943128" h="3048099">
                <a:moveTo>
                  <a:pt x="0" y="0"/>
                </a:moveTo>
                <a:lnTo>
                  <a:pt x="2943127" y="0"/>
                </a:lnTo>
                <a:lnTo>
                  <a:pt x="2943127" y="3048099"/>
                </a:lnTo>
                <a:lnTo>
                  <a:pt x="0" y="30480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8791" t="-139827" b="-16578"/>
            </a:stretch>
          </a:blipFill>
        </p:spPr>
      </p: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1815753876"/>
              </p:ext>
            </p:extLst>
          </p:nvPr>
        </p:nvGraphicFramePr>
        <p:xfrm>
          <a:off x="711325" y="2637923"/>
          <a:ext cx="6648400" cy="5172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6" imgW="4521200" imgH="4521200" progId="Excel.Sheet.12">
                  <p:embed/>
                </p:oleObj>
              </mc:Choice>
              <mc:Fallback>
                <p:oleObj name="Worksheet" r:id="rId6" imgW="4521200" imgH="452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1325" y="2637923"/>
                        <a:ext cx="6648400" cy="5172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6"/>
          <p:cNvSpPr/>
          <p:nvPr/>
        </p:nvSpPr>
        <p:spPr>
          <a:xfrm>
            <a:off x="7910470" y="2491809"/>
            <a:ext cx="8894560" cy="5303381"/>
          </a:xfrm>
          <a:custGeom>
            <a:avLst/>
            <a:gdLst/>
            <a:ahLst/>
            <a:cxnLst/>
            <a:rect l="l" t="t" r="r" b="b"/>
            <a:pathLst>
              <a:path w="8894560" h="5303381">
                <a:moveTo>
                  <a:pt x="0" y="0"/>
                </a:moveTo>
                <a:lnTo>
                  <a:pt x="8894560" y="0"/>
                </a:lnTo>
                <a:lnTo>
                  <a:pt x="8894560" y="5303382"/>
                </a:lnTo>
                <a:lnTo>
                  <a:pt x="0" y="53033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99346" y="942975"/>
            <a:ext cx="11179385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CURRENT BUSINESS STATUS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0027" y="2381250"/>
            <a:ext cx="615863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 dirty="0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Overall Performance (2023-2024)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4234" y="7699941"/>
            <a:ext cx="7812124" cy="203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Insights: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Strong profitability with &gt;40% margins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Healthy average transaction value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Consistent sales across year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7152" y="55647"/>
            <a:ext cx="3455044" cy="2425813"/>
          </a:xfrm>
          <a:custGeom>
            <a:avLst/>
            <a:gdLst/>
            <a:ahLst/>
            <a:cxnLst/>
            <a:rect l="l" t="t" r="r" b="b"/>
            <a:pathLst>
              <a:path w="3455044" h="2425813">
                <a:moveTo>
                  <a:pt x="0" y="0"/>
                </a:moveTo>
                <a:lnTo>
                  <a:pt x="3455044" y="0"/>
                </a:lnTo>
                <a:lnTo>
                  <a:pt x="3455044" y="2425813"/>
                </a:lnTo>
                <a:lnTo>
                  <a:pt x="0" y="2425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22180" r="-120447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131389" y="6526711"/>
            <a:ext cx="2614616" cy="4877394"/>
          </a:xfrm>
          <a:custGeom>
            <a:avLst/>
            <a:gdLst/>
            <a:ahLst/>
            <a:cxnLst/>
            <a:rect l="l" t="t" r="r" b="b"/>
            <a:pathLst>
              <a:path w="2614616" h="4877394">
                <a:moveTo>
                  <a:pt x="0" y="0"/>
                </a:moveTo>
                <a:lnTo>
                  <a:pt x="2614616" y="0"/>
                </a:lnTo>
                <a:lnTo>
                  <a:pt x="2614616" y="4877394"/>
                </a:lnTo>
                <a:lnTo>
                  <a:pt x="0" y="4877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91306" t="-60239"/>
            </a:stretch>
          </a:blipFill>
        </p:spPr>
      </p: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760012212"/>
              </p:ext>
            </p:extLst>
          </p:nvPr>
        </p:nvGraphicFramePr>
        <p:xfrm>
          <a:off x="388042" y="2934453"/>
          <a:ext cx="8648700" cy="4418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Worksheet" r:id="rId6" imgW="9042400" imgH="4648200" progId="Excel.Sheet.12">
                  <p:embed/>
                </p:oleObj>
              </mc:Choice>
              <mc:Fallback>
                <p:oleObj name="Worksheet" r:id="rId6" imgW="9042400" imgH="4648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8042" y="2934453"/>
                        <a:ext cx="8648700" cy="44180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6"/>
          <p:cNvSpPr/>
          <p:nvPr/>
        </p:nvSpPr>
        <p:spPr>
          <a:xfrm>
            <a:off x="9251259" y="2399132"/>
            <a:ext cx="7981883" cy="5966458"/>
          </a:xfrm>
          <a:custGeom>
            <a:avLst/>
            <a:gdLst/>
            <a:ahLst/>
            <a:cxnLst/>
            <a:rect l="l" t="t" r="r" b="b"/>
            <a:pathLst>
              <a:path w="7981883" h="5966458">
                <a:moveTo>
                  <a:pt x="0" y="0"/>
                </a:moveTo>
                <a:lnTo>
                  <a:pt x="7981884" y="0"/>
                </a:lnTo>
                <a:lnTo>
                  <a:pt x="7981884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24226" y="603885"/>
            <a:ext cx="10096548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SALES PERFORMANCE BY REGION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15336" y="2785954"/>
            <a:ext cx="4042225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Regional Breakdown: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9729" y="7135359"/>
            <a:ext cx="7964091" cy="1093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sz="3000" b="1" spc="159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Finding:</a:t>
            </a:r>
          </a:p>
          <a:p>
            <a:pPr algn="ctr">
              <a:lnSpc>
                <a:spcPts val="4140"/>
              </a:lnSpc>
              <a:spcBef>
                <a:spcPct val="0"/>
              </a:spcBef>
            </a:pPr>
            <a:r>
              <a:rPr lang="en-US" sz="3000" spc="159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West region outperforms by 23% over South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7152" y="91988"/>
            <a:ext cx="3418703" cy="2389472"/>
          </a:xfrm>
          <a:custGeom>
            <a:avLst/>
            <a:gdLst/>
            <a:ahLst/>
            <a:cxnLst/>
            <a:rect l="l" t="t" r="r" b="b"/>
            <a:pathLst>
              <a:path w="3418703" h="2389472">
                <a:moveTo>
                  <a:pt x="0" y="0"/>
                </a:moveTo>
                <a:lnTo>
                  <a:pt x="3418703" y="0"/>
                </a:lnTo>
                <a:lnTo>
                  <a:pt x="3418703" y="2389472"/>
                </a:lnTo>
                <a:lnTo>
                  <a:pt x="0" y="2389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27080" r="-12279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054" y="7463556"/>
            <a:ext cx="3258683" cy="2767548"/>
          </a:xfrm>
          <a:custGeom>
            <a:avLst/>
            <a:gdLst/>
            <a:ahLst/>
            <a:cxnLst/>
            <a:rect l="l" t="t" r="r" b="b"/>
            <a:pathLst>
              <a:path w="3258683" h="2767548">
                <a:moveTo>
                  <a:pt x="0" y="0"/>
                </a:moveTo>
                <a:lnTo>
                  <a:pt x="3258683" y="0"/>
                </a:lnTo>
                <a:lnTo>
                  <a:pt x="3258683" y="2767549"/>
                </a:lnTo>
                <a:lnTo>
                  <a:pt x="0" y="2767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3731" b="-182397"/>
            </a:stretch>
          </a:blipFill>
        </p:spPr>
      </p: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2544502498"/>
              </p:ext>
            </p:extLst>
          </p:nvPr>
        </p:nvGraphicFramePr>
        <p:xfrm>
          <a:off x="194852" y="3138245"/>
          <a:ext cx="10081248" cy="5166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Worksheet" r:id="rId6" imgW="9042400" imgH="4648200" progId="Excel.Sheet.12">
                  <p:embed/>
                </p:oleObj>
              </mc:Choice>
              <mc:Fallback>
                <p:oleObj name="Worksheet" r:id="rId6" imgW="9042400" imgH="4648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4852" y="3138245"/>
                        <a:ext cx="10081248" cy="5166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6"/>
          <p:cNvSpPr/>
          <p:nvPr/>
        </p:nvSpPr>
        <p:spPr>
          <a:xfrm>
            <a:off x="10176621" y="1839401"/>
            <a:ext cx="6648537" cy="7245327"/>
          </a:xfrm>
          <a:custGeom>
            <a:avLst/>
            <a:gdLst/>
            <a:ahLst/>
            <a:cxnLst/>
            <a:rect l="l" t="t" r="r" b="b"/>
            <a:pathLst>
              <a:path w="6648537" h="7245327">
                <a:moveTo>
                  <a:pt x="0" y="0"/>
                </a:moveTo>
                <a:lnTo>
                  <a:pt x="6648537" y="0"/>
                </a:lnTo>
                <a:lnTo>
                  <a:pt x="6648537" y="7245327"/>
                </a:lnTo>
                <a:lnTo>
                  <a:pt x="0" y="72453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66725" y="608771"/>
            <a:ext cx="11354550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SALES DISTRIBUTION BY CATEGORY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11852" y="3257790"/>
            <a:ext cx="424724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Category Performance: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9142" y="7839477"/>
            <a:ext cx="786616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</a:t>
            </a:r>
          </a:p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Electronics and Furniture drive 59.4% of revenue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7152" y="55647"/>
            <a:ext cx="3418703" cy="2425813"/>
          </a:xfrm>
          <a:custGeom>
            <a:avLst/>
            <a:gdLst/>
            <a:ahLst/>
            <a:cxnLst/>
            <a:rect l="l" t="t" r="r" b="b"/>
            <a:pathLst>
              <a:path w="3418703" h="2425813">
                <a:moveTo>
                  <a:pt x="0" y="0"/>
                </a:moveTo>
                <a:lnTo>
                  <a:pt x="3418703" y="0"/>
                </a:lnTo>
                <a:lnTo>
                  <a:pt x="3418703" y="2425813"/>
                </a:lnTo>
                <a:lnTo>
                  <a:pt x="0" y="2425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22180" r="-12279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054" y="55647"/>
            <a:ext cx="3513303" cy="3449380"/>
          </a:xfrm>
          <a:custGeom>
            <a:avLst/>
            <a:gdLst/>
            <a:ahLst/>
            <a:cxnLst/>
            <a:rect l="l" t="t" r="r" b="b"/>
            <a:pathLst>
              <a:path w="3513303" h="3449380">
                <a:moveTo>
                  <a:pt x="0" y="0"/>
                </a:moveTo>
                <a:lnTo>
                  <a:pt x="3513303" y="0"/>
                </a:lnTo>
                <a:lnTo>
                  <a:pt x="3513303" y="3449380"/>
                </a:lnTo>
                <a:lnTo>
                  <a:pt x="0" y="3449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6791" t="-12657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66725" y="724933"/>
            <a:ext cx="11354550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MONTHLY SALES TREND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0324" y="2590800"/>
            <a:ext cx="8169730" cy="501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00"/>
              </a:lnSpc>
              <a:spcBef>
                <a:spcPct val="0"/>
              </a:spcBef>
            </a:pPr>
            <a:r>
              <a:rPr lang="en-US" sz="3000" b="1" spc="-12" dirty="0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Temporal Patterns: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Trend: Consistent upward trajectory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Growth Rate: 3.2% month-over-month average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Seasonality: Q4 spike (27.7% of annual sales)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Peak Month: December 2023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Lowest Month: January 2023</a:t>
            </a:r>
          </a:p>
          <a:p>
            <a:pPr>
              <a:lnSpc>
                <a:spcPts val="3900"/>
              </a:lnSpc>
              <a:spcBef>
                <a:spcPct val="0"/>
              </a:spcBef>
            </a:pPr>
            <a:endParaRPr lang="en-US" sz="3000" spc="-12" dirty="0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>
              <a:lnSpc>
                <a:spcPts val="3900"/>
              </a:lnSpc>
              <a:spcBef>
                <a:spcPct val="0"/>
              </a:spcBef>
            </a:pPr>
            <a:r>
              <a:rPr lang="en-US" sz="3000" b="1" spc="-12" dirty="0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Pattern:</a:t>
            </a:r>
          </a:p>
          <a:p>
            <a:pPr>
              <a:lnSpc>
                <a:spcPts val="3900"/>
              </a:lnSpc>
              <a:spcBef>
                <a:spcPct val="0"/>
              </a:spcBef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Clear seasonal influence with year-end surge</a:t>
            </a:r>
          </a:p>
        </p:txBody>
      </p:sp>
      <p:sp>
        <p:nvSpPr>
          <p:cNvPr id="7" name="Freeform 7"/>
          <p:cNvSpPr/>
          <p:nvPr/>
        </p:nvSpPr>
        <p:spPr>
          <a:xfrm>
            <a:off x="10156112" y="2624964"/>
            <a:ext cx="7103188" cy="5307910"/>
          </a:xfrm>
          <a:custGeom>
            <a:avLst/>
            <a:gdLst/>
            <a:ahLst/>
            <a:cxnLst/>
            <a:rect l="l" t="t" r="r" b="b"/>
            <a:pathLst>
              <a:path w="7103188" h="5307910">
                <a:moveTo>
                  <a:pt x="0" y="0"/>
                </a:moveTo>
                <a:lnTo>
                  <a:pt x="7103188" y="0"/>
                </a:lnTo>
                <a:lnTo>
                  <a:pt x="7103188" y="5307909"/>
                </a:lnTo>
                <a:lnTo>
                  <a:pt x="0" y="53079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37879" y="19306"/>
            <a:ext cx="3164317" cy="2328518"/>
          </a:xfrm>
          <a:custGeom>
            <a:avLst/>
            <a:gdLst/>
            <a:ahLst/>
            <a:cxnLst/>
            <a:rect l="l" t="t" r="r" b="b"/>
            <a:pathLst>
              <a:path w="3164317" h="2328518">
                <a:moveTo>
                  <a:pt x="0" y="0"/>
                </a:moveTo>
                <a:lnTo>
                  <a:pt x="3164317" y="0"/>
                </a:lnTo>
                <a:lnTo>
                  <a:pt x="3164317" y="2328518"/>
                </a:lnTo>
                <a:lnTo>
                  <a:pt x="0" y="2328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5642" r="-14070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13" y="19306"/>
            <a:ext cx="3785565" cy="3888442"/>
          </a:xfrm>
          <a:custGeom>
            <a:avLst/>
            <a:gdLst/>
            <a:ahLst/>
            <a:cxnLst/>
            <a:rect l="l" t="t" r="r" b="b"/>
            <a:pathLst>
              <a:path w="3785565" h="3888442">
                <a:moveTo>
                  <a:pt x="0" y="0"/>
                </a:moveTo>
                <a:lnTo>
                  <a:pt x="3785565" y="0"/>
                </a:lnTo>
                <a:lnTo>
                  <a:pt x="3785565" y="3888442"/>
                </a:lnTo>
                <a:lnTo>
                  <a:pt x="0" y="3888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199" t="-10099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72575" y="2271372"/>
            <a:ext cx="8196621" cy="6247897"/>
          </a:xfrm>
          <a:custGeom>
            <a:avLst/>
            <a:gdLst/>
            <a:ahLst/>
            <a:cxnLst/>
            <a:rect l="l" t="t" r="r" b="b"/>
            <a:pathLst>
              <a:path w="8196621" h="6247897">
                <a:moveTo>
                  <a:pt x="0" y="0"/>
                </a:moveTo>
                <a:lnTo>
                  <a:pt x="8196621" y="0"/>
                </a:lnTo>
                <a:lnTo>
                  <a:pt x="8196621" y="6247897"/>
                </a:lnTo>
                <a:lnTo>
                  <a:pt x="0" y="6247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13854" y="758750"/>
            <a:ext cx="12517441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PRODUCT-REGION PERFORMANCE MATRIX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7204" y="2099671"/>
            <a:ext cx="7588284" cy="649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00"/>
              </a:lnSpc>
              <a:spcBef>
                <a:spcPct val="0"/>
              </a:spcBef>
            </a:pPr>
            <a:endParaRPr dirty="0"/>
          </a:p>
          <a:p>
            <a:pPr>
              <a:lnSpc>
                <a:spcPts val="3900"/>
              </a:lnSpc>
              <a:spcBef>
                <a:spcPct val="0"/>
              </a:spcBef>
            </a:pPr>
            <a:r>
              <a:rPr lang="en-US" sz="3000" b="1" spc="-12" dirty="0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Hotspot Analysis:</a:t>
            </a:r>
          </a:p>
          <a:p>
            <a:pPr>
              <a:lnSpc>
                <a:spcPts val="3900"/>
              </a:lnSpc>
              <a:spcBef>
                <a:spcPct val="0"/>
              </a:spcBef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Top Combinations: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Electronics + West: $242,000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Furniture + East: $229,000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Electronics + East: $221,000</a:t>
            </a:r>
          </a:p>
          <a:p>
            <a:pPr>
              <a:lnSpc>
                <a:spcPts val="3900"/>
              </a:lnSpc>
              <a:spcBef>
                <a:spcPct val="0"/>
              </a:spcBef>
            </a:pPr>
            <a:endParaRPr lang="en-US" sz="3000" spc="-12" dirty="0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>
              <a:lnSpc>
                <a:spcPts val="3900"/>
              </a:lnSpc>
              <a:spcBef>
                <a:spcPct val="0"/>
              </a:spcBef>
            </a:pPr>
            <a:r>
              <a:rPr lang="en-US" sz="3000" b="1" spc="-12" dirty="0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Cold Spots: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Food + South: $98,000</a:t>
            </a:r>
          </a:p>
          <a:p>
            <a:pPr marL="647700" lvl="1" indent="-323850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Clothing + South: $134,000</a:t>
            </a:r>
          </a:p>
          <a:p>
            <a:pPr>
              <a:lnSpc>
                <a:spcPts val="3900"/>
              </a:lnSpc>
              <a:spcBef>
                <a:spcPct val="0"/>
              </a:spcBef>
            </a:pPr>
            <a:endParaRPr lang="en-US" sz="3000" spc="-12" dirty="0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>
              <a:lnSpc>
                <a:spcPts val="3900"/>
              </a:lnSpc>
              <a:spcBef>
                <a:spcPct val="0"/>
              </a:spcBef>
            </a:pPr>
            <a:r>
              <a:rPr lang="en-US" sz="3000" b="1" spc="-12" dirty="0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Strategic Insight:</a:t>
            </a:r>
            <a:r>
              <a:rPr lang="en-US" sz="3000" spc="-12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Focus resources on proven combinations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4214737">
            <a:off x="13901395" y="5856622"/>
            <a:ext cx="4964932" cy="4904936"/>
          </a:xfrm>
          <a:custGeom>
            <a:avLst/>
            <a:gdLst/>
            <a:ahLst/>
            <a:cxnLst/>
            <a:rect l="l" t="t" r="r" b="b"/>
            <a:pathLst>
              <a:path w="4964932" h="4904936">
                <a:moveTo>
                  <a:pt x="0" y="3584162"/>
                </a:moveTo>
                <a:lnTo>
                  <a:pt x="1287154" y="0"/>
                </a:lnTo>
                <a:lnTo>
                  <a:pt x="4964932" y="1320774"/>
                </a:lnTo>
                <a:lnTo>
                  <a:pt x="3677778" y="4904936"/>
                </a:lnTo>
                <a:lnTo>
                  <a:pt x="0" y="35841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77868" r="-101237" b="-3115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66725" y="724933"/>
            <a:ext cx="11354550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DIAGNOSTIC ANALYTICS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5883" y="1771650"/>
            <a:ext cx="8496233" cy="748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Questions Answered:</a:t>
            </a:r>
          </a:p>
          <a:p>
            <a:pPr algn="just">
              <a:lnSpc>
                <a:spcPts val="3900"/>
              </a:lnSpc>
              <a:spcBef>
                <a:spcPct val="0"/>
              </a:spcBef>
            </a:pPr>
            <a:endParaRPr lang="en-US" sz="3000" b="1" spc="-12">
              <a:solidFill>
                <a:srgbClr val="231F2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 Why does West region lead?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Higher transaction frequency (+14%)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Lower discount rates (12.3% vs 15.7%)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More returning customers (58%)</a:t>
            </a:r>
          </a:p>
          <a:p>
            <a:pPr algn="just">
              <a:lnSpc>
                <a:spcPts val="3900"/>
              </a:lnSpc>
              <a:spcBef>
                <a:spcPct val="0"/>
              </a:spcBef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Why are some products more profitable?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Pricing strategy differences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Cost structure variations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Product mix optimization</a:t>
            </a:r>
          </a:p>
          <a:p>
            <a:pPr algn="just">
              <a:lnSpc>
                <a:spcPts val="3900"/>
              </a:lnSpc>
              <a:spcBef>
                <a:spcPct val="0"/>
              </a:spcBef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 Why do discounts hurt margins?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Correlation: -0.67 (strong negative)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Every 10% discount → 8.9% margin decrease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7152" y="50687"/>
            <a:ext cx="3418703" cy="2425813"/>
          </a:xfrm>
          <a:custGeom>
            <a:avLst/>
            <a:gdLst/>
            <a:ahLst/>
            <a:cxnLst/>
            <a:rect l="l" t="t" r="r" b="b"/>
            <a:pathLst>
              <a:path w="3418703" h="2425813">
                <a:moveTo>
                  <a:pt x="0" y="0"/>
                </a:moveTo>
                <a:lnTo>
                  <a:pt x="3418703" y="0"/>
                </a:lnTo>
                <a:lnTo>
                  <a:pt x="3418703" y="2425813"/>
                </a:lnTo>
                <a:lnTo>
                  <a:pt x="0" y="2425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22180" r="-122790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94835" y="6302857"/>
            <a:ext cx="4073591" cy="3888478"/>
          </a:xfrm>
          <a:custGeom>
            <a:avLst/>
            <a:gdLst/>
            <a:ahLst/>
            <a:cxnLst/>
            <a:rect l="l" t="t" r="r" b="b"/>
            <a:pathLst>
              <a:path w="4073591" h="3888478">
                <a:moveTo>
                  <a:pt x="0" y="0"/>
                </a:moveTo>
                <a:lnTo>
                  <a:pt x="4073591" y="0"/>
                </a:lnTo>
                <a:lnTo>
                  <a:pt x="4073591" y="3888478"/>
                </a:lnTo>
                <a:lnTo>
                  <a:pt x="0" y="3888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974" t="-98275" b="-2715"/>
            </a:stretch>
          </a:blipFill>
        </p:spPr>
      </p: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3441834148"/>
              </p:ext>
            </p:extLst>
          </p:nvPr>
        </p:nvGraphicFramePr>
        <p:xfrm>
          <a:off x="4219206" y="2556816"/>
          <a:ext cx="10462844" cy="3554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Worksheet" r:id="rId6" imgW="9042400" imgH="3390900" progId="Excel.Sheet.12">
                  <p:embed/>
                </p:oleObj>
              </mc:Choice>
              <mc:Fallback>
                <p:oleObj name="Worksheet" r:id="rId6" imgW="9042400" imgH="3390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19206" y="2556816"/>
                        <a:ext cx="10462844" cy="3554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2981041" y="942975"/>
            <a:ext cx="12325918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CUSTOMER SEGMENTATION IMPACT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63239" y="2328181"/>
            <a:ext cx="5246609" cy="605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8"/>
              </a:lnSpc>
              <a:spcBef>
                <a:spcPct val="0"/>
              </a:spcBef>
            </a:pPr>
            <a:r>
              <a:rPr lang="en-US" sz="3337" b="1" spc="-13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Customer Type Comparison: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37006" y="7051734"/>
            <a:ext cx="8427244" cy="2234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8"/>
              </a:lnSpc>
            </a:pPr>
            <a:r>
              <a:rPr lang="en-US" sz="3337" b="1" spc="-13" dirty="0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Payment Preferences:</a:t>
            </a:r>
          </a:p>
          <a:p>
            <a:pPr marL="720529" lvl="1" indent="-360265" algn="l">
              <a:lnSpc>
                <a:spcPts val="4338"/>
              </a:lnSpc>
              <a:buFont typeface="Arial"/>
              <a:buChar char="•"/>
            </a:pPr>
            <a:r>
              <a:rPr lang="en-US" sz="3337" spc="-13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Credit Card: 38% (highest avg. transaction)</a:t>
            </a:r>
          </a:p>
          <a:p>
            <a:pPr marL="720529" lvl="1" indent="-360265" algn="l">
              <a:lnSpc>
                <a:spcPts val="4338"/>
              </a:lnSpc>
              <a:buFont typeface="Arial"/>
              <a:buChar char="•"/>
            </a:pPr>
            <a:r>
              <a:rPr lang="en-US" sz="3337" spc="-13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Bank Transfer: 35% (lowest default rate)</a:t>
            </a:r>
          </a:p>
          <a:p>
            <a:pPr marL="720529" lvl="1" indent="-360265" algn="l">
              <a:lnSpc>
                <a:spcPts val="4338"/>
              </a:lnSpc>
              <a:buFont typeface="Arial"/>
              <a:buChar char="•"/>
            </a:pPr>
            <a:r>
              <a:rPr lang="en-US" sz="3337" spc="-13" dirty="0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Cash: 27% (fastest processing)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12317" y="5560593"/>
            <a:ext cx="6755755" cy="1148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8"/>
              </a:lnSpc>
              <a:spcBef>
                <a:spcPct val="0"/>
              </a:spcBef>
            </a:pPr>
            <a:r>
              <a:rPr lang="en-US" sz="3337" b="1" spc="-13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Finding:</a:t>
            </a:r>
          </a:p>
          <a:p>
            <a:pPr algn="ctr">
              <a:lnSpc>
                <a:spcPts val="4338"/>
              </a:lnSpc>
              <a:spcBef>
                <a:spcPct val="0"/>
              </a:spcBef>
            </a:pPr>
            <a:r>
              <a:rPr lang="en-US" sz="3337" spc="-13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Returning customers spend 15% more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7152" y="55647"/>
            <a:ext cx="3455044" cy="2425813"/>
          </a:xfrm>
          <a:custGeom>
            <a:avLst/>
            <a:gdLst/>
            <a:ahLst/>
            <a:cxnLst/>
            <a:rect l="l" t="t" r="r" b="b"/>
            <a:pathLst>
              <a:path w="3455044" h="2425813">
                <a:moveTo>
                  <a:pt x="0" y="0"/>
                </a:moveTo>
                <a:lnTo>
                  <a:pt x="3455044" y="0"/>
                </a:lnTo>
                <a:lnTo>
                  <a:pt x="3455044" y="2425813"/>
                </a:lnTo>
                <a:lnTo>
                  <a:pt x="0" y="24258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22180" r="-120447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601766" y="7483830"/>
            <a:ext cx="3408095" cy="2159136"/>
          </a:xfrm>
          <a:custGeom>
            <a:avLst/>
            <a:gdLst/>
            <a:ahLst/>
            <a:cxnLst/>
            <a:rect l="l" t="t" r="r" b="b"/>
            <a:pathLst>
              <a:path w="3408095" h="2159136">
                <a:moveTo>
                  <a:pt x="0" y="0"/>
                </a:moveTo>
                <a:lnTo>
                  <a:pt x="3408094" y="0"/>
                </a:lnTo>
                <a:lnTo>
                  <a:pt x="3408094" y="2159136"/>
                </a:lnTo>
                <a:lnTo>
                  <a:pt x="0" y="21591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3484" t="-26197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981041" y="504649"/>
            <a:ext cx="12325918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FORECASTING APPROACH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02944" y="1442092"/>
            <a:ext cx="7282113" cy="847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 Predict next 12 months of sales</a:t>
            </a:r>
          </a:p>
          <a:p>
            <a:pPr algn="just">
              <a:lnSpc>
                <a:spcPts val="3900"/>
              </a:lnSpc>
            </a:pPr>
            <a:endParaRPr lang="en-US" sz="3000" b="1" spc="-12">
              <a:solidFill>
                <a:srgbClr val="231F2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just">
              <a:lnSpc>
                <a:spcPts val="3900"/>
              </a:lnSpc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Models Tested:</a:t>
            </a:r>
          </a:p>
          <a:p>
            <a:pPr algn="just">
              <a:lnSpc>
                <a:spcPts val="3900"/>
              </a:lnSpc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 Linear Regression (Baseline)</a:t>
            </a:r>
          </a:p>
          <a:p>
            <a:pPr marL="647700" lvl="1" indent="-323850" algn="just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Pros: Fast, interpretable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Cons: Assumes linearity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R² Score: 0.689</a:t>
            </a:r>
          </a:p>
          <a:p>
            <a:pPr algn="just">
              <a:lnSpc>
                <a:spcPts val="3900"/>
              </a:lnSpc>
              <a:spcBef>
                <a:spcPct val="0"/>
              </a:spcBef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Random Forest (Selected)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Pros: Handles complexity, robust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Cons: Less interpretable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R² Score: 0.855</a:t>
            </a:r>
          </a:p>
          <a:p>
            <a:pPr algn="just">
              <a:lnSpc>
                <a:spcPts val="3900"/>
              </a:lnSpc>
              <a:spcBef>
                <a:spcPct val="0"/>
              </a:spcBef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Features Used: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Days since start (trend)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Lagged sales (7, 14, 30 days)</a:t>
            </a:r>
          </a:p>
          <a:p>
            <a:pPr marL="647700" lvl="1" indent="-323850" algn="just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Rolling averages (7, 30 days)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7152" y="55647"/>
            <a:ext cx="3418703" cy="2425813"/>
          </a:xfrm>
          <a:custGeom>
            <a:avLst/>
            <a:gdLst/>
            <a:ahLst/>
            <a:cxnLst/>
            <a:rect l="l" t="t" r="r" b="b"/>
            <a:pathLst>
              <a:path w="3418703" h="2425813">
                <a:moveTo>
                  <a:pt x="0" y="0"/>
                </a:moveTo>
                <a:lnTo>
                  <a:pt x="3418703" y="0"/>
                </a:lnTo>
                <a:lnTo>
                  <a:pt x="3418703" y="2425813"/>
                </a:lnTo>
                <a:lnTo>
                  <a:pt x="0" y="2425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22180" r="-122790"/>
            </a:stretch>
          </a:blipFill>
        </p:spPr>
      </p:sp>
      <p:sp>
        <p:nvSpPr>
          <p:cNvPr id="4" name="Freeform 4"/>
          <p:cNvSpPr/>
          <p:nvPr/>
        </p:nvSpPr>
        <p:spPr>
          <a:xfrm rot="-6702361">
            <a:off x="-339025" y="8082138"/>
            <a:ext cx="3227676" cy="3263705"/>
          </a:xfrm>
          <a:custGeom>
            <a:avLst/>
            <a:gdLst/>
            <a:ahLst/>
            <a:cxnLst/>
            <a:rect l="l" t="t" r="r" b="b"/>
            <a:pathLst>
              <a:path w="3227676" h="3263705">
                <a:moveTo>
                  <a:pt x="936053" y="0"/>
                </a:moveTo>
                <a:lnTo>
                  <a:pt x="3227676" y="912227"/>
                </a:lnTo>
                <a:lnTo>
                  <a:pt x="2291622" y="3263705"/>
                </a:lnTo>
                <a:lnTo>
                  <a:pt x="0" y="2351478"/>
                </a:lnTo>
                <a:lnTo>
                  <a:pt x="9360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0437" t="-131104" r="-28361" b="-82261"/>
            </a:stretch>
          </a:blipFill>
        </p:spPr>
      </p: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3952331092"/>
              </p:ext>
            </p:extLst>
          </p:nvPr>
        </p:nvGraphicFramePr>
        <p:xfrm>
          <a:off x="880339" y="3137572"/>
          <a:ext cx="8152659" cy="5691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Worksheet" r:id="rId6" imgW="6781800" imgH="4267200" progId="Excel.Sheet.12">
                  <p:embed/>
                </p:oleObj>
              </mc:Choice>
              <mc:Fallback>
                <p:oleObj name="Worksheet" r:id="rId6" imgW="6781800" imgH="4267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0339" y="3137572"/>
                        <a:ext cx="8152659" cy="5691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2981041" y="843739"/>
            <a:ext cx="12325918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MODEL PERFORMANCE &amp; VALIDATION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63103" y="2985254"/>
            <a:ext cx="398713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Random Forest Results: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7734" y="3682246"/>
            <a:ext cx="6842522" cy="352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Validation Methods: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Train-Test Split (80-20)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5-Fold Cross-Validation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 Importance Analysis</a:t>
            </a:r>
          </a:p>
          <a:p>
            <a:pPr algn="l">
              <a:lnSpc>
                <a:spcPts val="3900"/>
              </a:lnSpc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Conclusion: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is reliable and ready for deployment</a:t>
            </a: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67354" y="55647"/>
            <a:ext cx="2362160" cy="3852101"/>
          </a:xfrm>
          <a:custGeom>
            <a:avLst/>
            <a:gdLst/>
            <a:ahLst/>
            <a:cxnLst/>
            <a:rect l="l" t="t" r="r" b="b"/>
            <a:pathLst>
              <a:path w="2362160" h="3852101">
                <a:moveTo>
                  <a:pt x="0" y="0"/>
                </a:moveTo>
                <a:lnTo>
                  <a:pt x="2362160" y="0"/>
                </a:lnTo>
                <a:lnTo>
                  <a:pt x="2362160" y="3852101"/>
                </a:lnTo>
                <a:lnTo>
                  <a:pt x="0" y="385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69" t="-102889" r="-221870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698346" y="6688695"/>
            <a:ext cx="1921413" cy="5309019"/>
          </a:xfrm>
          <a:custGeom>
            <a:avLst/>
            <a:gdLst/>
            <a:ahLst/>
            <a:cxnLst/>
            <a:rect l="l" t="t" r="r" b="b"/>
            <a:pathLst>
              <a:path w="1921413" h="5309019">
                <a:moveTo>
                  <a:pt x="0" y="0"/>
                </a:moveTo>
                <a:lnTo>
                  <a:pt x="1921412" y="0"/>
                </a:lnTo>
                <a:lnTo>
                  <a:pt x="1921412" y="5309018"/>
                </a:lnTo>
                <a:lnTo>
                  <a:pt x="0" y="53090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6403" t="-4721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16297" y="2671829"/>
            <a:ext cx="7632497" cy="5710668"/>
          </a:xfrm>
          <a:custGeom>
            <a:avLst/>
            <a:gdLst/>
            <a:ahLst/>
            <a:cxnLst/>
            <a:rect l="l" t="t" r="r" b="b"/>
            <a:pathLst>
              <a:path w="7632497" h="5710668">
                <a:moveTo>
                  <a:pt x="0" y="0"/>
                </a:moveTo>
                <a:lnTo>
                  <a:pt x="7632496" y="0"/>
                </a:lnTo>
                <a:lnTo>
                  <a:pt x="7632496" y="5710669"/>
                </a:lnTo>
                <a:lnTo>
                  <a:pt x="0" y="57106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81041" y="797614"/>
            <a:ext cx="12325918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MODEL ACCURACY DEMONSTRATION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7752" y="2726813"/>
            <a:ext cx="8131618" cy="550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Test Set Performance: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Blue Line: Actual sales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 Line: Model predictions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Alignment: 85.5% accuracy</a:t>
            </a:r>
          </a:p>
          <a:p>
            <a:pPr algn="l">
              <a:lnSpc>
                <a:spcPts val="3900"/>
              </a:lnSpc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Observations:</a:t>
            </a:r>
          </a:p>
          <a:p>
            <a:pPr marL="647700" lvl="1" indent="-323850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Close tracking of actual patterns</a:t>
            </a:r>
          </a:p>
          <a:p>
            <a:pPr marL="647700" lvl="1" indent="-323850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Captures trend and seasonality</a:t>
            </a:r>
          </a:p>
          <a:p>
            <a:pPr marL="647700" lvl="1" indent="-323850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Minimal systematic bias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endParaRPr lang="en-US" sz="3000" spc="-12">
              <a:solidFill>
                <a:srgbClr val="231F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Confidence:</a:t>
            </a: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High reliability for future predictions.</a:t>
            </a: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1800" y="-3245"/>
            <a:ext cx="3904132" cy="2098745"/>
          </a:xfrm>
          <a:custGeom>
            <a:avLst/>
            <a:gdLst/>
            <a:ahLst/>
            <a:cxnLst/>
            <a:rect l="l" t="t" r="r" b="b"/>
            <a:pathLst>
              <a:path w="3904132" h="2098745">
                <a:moveTo>
                  <a:pt x="0" y="0"/>
                </a:moveTo>
                <a:lnTo>
                  <a:pt x="3904132" y="0"/>
                </a:lnTo>
                <a:lnTo>
                  <a:pt x="3904132" y="2098745"/>
                </a:lnTo>
                <a:lnTo>
                  <a:pt x="0" y="2098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72389" r="-9508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605769" y="6580072"/>
            <a:ext cx="2133397" cy="5299510"/>
          </a:xfrm>
          <a:custGeom>
            <a:avLst/>
            <a:gdLst/>
            <a:ahLst/>
            <a:cxnLst/>
            <a:rect l="l" t="t" r="r" b="b"/>
            <a:pathLst>
              <a:path w="2133397" h="5299510">
                <a:moveTo>
                  <a:pt x="0" y="0"/>
                </a:moveTo>
                <a:lnTo>
                  <a:pt x="2133397" y="0"/>
                </a:lnTo>
                <a:lnTo>
                  <a:pt x="2133397" y="5299509"/>
                </a:lnTo>
                <a:lnTo>
                  <a:pt x="0" y="5299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57015" t="-47475"/>
            </a:stretch>
          </a:blipFill>
        </p:spPr>
      </p: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1649606130"/>
              </p:ext>
            </p:extLst>
          </p:nvPr>
        </p:nvGraphicFramePr>
        <p:xfrm>
          <a:off x="499574" y="3157735"/>
          <a:ext cx="8420116" cy="5367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Worksheet" r:id="rId6" imgW="6781800" imgH="4902200" progId="Excel.Sheet.12">
                  <p:embed/>
                </p:oleObj>
              </mc:Choice>
              <mc:Fallback>
                <p:oleObj name="Worksheet" r:id="rId6" imgW="6781800" imgH="490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9574" y="3157735"/>
                        <a:ext cx="8420116" cy="53678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6"/>
          <p:cNvSpPr/>
          <p:nvPr/>
        </p:nvSpPr>
        <p:spPr>
          <a:xfrm>
            <a:off x="8666306" y="2481460"/>
            <a:ext cx="9122120" cy="6812723"/>
          </a:xfrm>
          <a:custGeom>
            <a:avLst/>
            <a:gdLst/>
            <a:ahLst/>
            <a:cxnLst/>
            <a:rect l="l" t="t" r="r" b="b"/>
            <a:pathLst>
              <a:path w="9122120" h="6812723">
                <a:moveTo>
                  <a:pt x="0" y="0"/>
                </a:moveTo>
                <a:lnTo>
                  <a:pt x="9122120" y="0"/>
                </a:lnTo>
                <a:lnTo>
                  <a:pt x="9122120" y="6812723"/>
                </a:lnTo>
                <a:lnTo>
                  <a:pt x="0" y="68127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81041" y="603885"/>
            <a:ext cx="12325918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0"/>
              </a:lnSpc>
            </a:pPr>
            <a:r>
              <a:rPr lang="en-US" sz="4500" b="1" spc="238" dirty="0">
                <a:solidFill>
                  <a:srgbClr val="231F20"/>
                </a:solidFill>
                <a:latin typeface="Lovelo"/>
                <a:ea typeface="Lovelo"/>
                <a:cs typeface="Lovelo"/>
                <a:sym typeface="Lovelo"/>
              </a:rPr>
              <a:t>FUTURE SALES PROJECTION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8496" y="2386210"/>
            <a:ext cx="6320104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endParaRPr dirty="0"/>
          </a:p>
          <a:p>
            <a:pPr algn="just">
              <a:lnSpc>
                <a:spcPts val="3900"/>
              </a:lnSpc>
              <a:spcBef>
                <a:spcPct val="0"/>
              </a:spcBef>
            </a:pPr>
            <a:r>
              <a:rPr lang="en-US" sz="3000" b="1" spc="-12" dirty="0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Next 12 Months (Feb 2024 - Jan 2025):</a:t>
            </a:r>
          </a:p>
          <a:p>
            <a:pPr algn="just">
              <a:lnSpc>
                <a:spcPts val="3900"/>
              </a:lnSpc>
              <a:spcBef>
                <a:spcPct val="0"/>
              </a:spcBef>
            </a:pPr>
            <a:endParaRPr lang="en-US" sz="3000" b="1" spc="-12" dirty="0">
              <a:solidFill>
                <a:srgbClr val="231F2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616720" y="7947946"/>
            <a:ext cx="524113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Average Monthly Sales:</a:t>
            </a: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$296,370</a:t>
            </a:r>
          </a:p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000" b="1" spc="-12">
                <a:solidFill>
                  <a:srgbClr val="231F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Confidence Level:</a:t>
            </a:r>
            <a:r>
              <a:rPr lang="en-US" sz="3000" spc="-12">
                <a:solidFill>
                  <a:srgbClr val="231F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85.5%</a:t>
            </a: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507607" y="3484029"/>
            <a:ext cx="5758248" cy="6783416"/>
          </a:xfrm>
          <a:custGeom>
            <a:avLst/>
            <a:gdLst/>
            <a:ahLst/>
            <a:cxnLst/>
            <a:rect l="l" t="t" r="r" b="b"/>
            <a:pathLst>
              <a:path w="5758248" h="6783416">
                <a:moveTo>
                  <a:pt x="0" y="0"/>
                </a:moveTo>
                <a:lnTo>
                  <a:pt x="5758248" y="0"/>
                </a:lnTo>
                <a:lnTo>
                  <a:pt x="5758248" y="6783416"/>
                </a:lnTo>
                <a:lnTo>
                  <a:pt x="0" y="67834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6067" b="-61261"/>
            </a:stretch>
          </a:blipFill>
        </p:spPr>
      </p:sp>
      <p:sp>
        <p:nvSpPr>
          <p:cNvPr id="4" name="Freeform 4"/>
          <p:cNvSpPr/>
          <p:nvPr/>
        </p:nvSpPr>
        <p:spPr>
          <a:xfrm rot="-10799999">
            <a:off x="-49969" y="-17035"/>
            <a:ext cx="6777892" cy="5845214"/>
          </a:xfrm>
          <a:custGeom>
            <a:avLst/>
            <a:gdLst/>
            <a:ahLst/>
            <a:cxnLst/>
            <a:rect l="l" t="t" r="r" b="b"/>
            <a:pathLst>
              <a:path w="6777892" h="5845214">
                <a:moveTo>
                  <a:pt x="0" y="0"/>
                </a:moveTo>
                <a:lnTo>
                  <a:pt x="6777892" y="0"/>
                </a:lnTo>
                <a:lnTo>
                  <a:pt x="6777892" y="5845214"/>
                </a:lnTo>
                <a:lnTo>
                  <a:pt x="0" y="5845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5597" b="-8714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89237" y="4114158"/>
            <a:ext cx="8909526" cy="193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68"/>
              </a:lnSpc>
              <a:spcBef>
                <a:spcPct val="0"/>
              </a:spcBef>
            </a:pPr>
            <a:r>
              <a:rPr lang="en-US" sz="11898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Thank You!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722</Words>
  <Application>Microsoft Office PowerPoint</Application>
  <PresentationFormat>Custom</PresentationFormat>
  <Paragraphs>159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Lovelo</vt:lpstr>
      <vt:lpstr>Times New Roman MT Bold</vt:lpstr>
      <vt:lpstr>Arial</vt:lpstr>
      <vt:lpstr>Calibri</vt:lpstr>
      <vt:lpstr>Times New Roman MT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web</dc:title>
  <cp:lastModifiedBy>Md. Ahanaf Mohosen</cp:lastModifiedBy>
  <cp:revision>3</cp:revision>
  <dcterms:created xsi:type="dcterms:W3CDTF">2006-08-16T00:00:00Z</dcterms:created>
  <dcterms:modified xsi:type="dcterms:W3CDTF">2025-11-03T16:55:05Z</dcterms:modified>
  <dc:identifier>DAG3Sq7mgbg</dc:identifier>
</cp:coreProperties>
</file>